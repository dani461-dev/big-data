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5" r:id="rId13"/>
    <p:sldId id="277" r:id="rId14"/>
    <p:sldId id="266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2D9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C79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3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YouTube</c:v>
                </c:pt>
                <c:pt idx="1">
                  <c:v>X (Twitter)</c:v>
                </c:pt>
                <c:pt idx="2">
                  <c:v>Threads</c:v>
                </c:pt>
                <c:pt idx="3">
                  <c:v>Google Trends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1867</c:v>
                </c:pt>
                <c:pt idx="1">
                  <c:v>1519</c:v>
                </c:pt>
                <c:pt idx="2">
                  <c:v>690</c:v>
                </c:pt>
                <c:pt idx="3">
                  <c:v>4116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17618928"/>
        <c:axId val="1017622192"/>
      </c:barChart>
      <c:catAx>
        <c:axId val="1017618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22192"/>
        <c:crosses val="autoZero"/>
        <c:auto val="1"/>
        <c:lblAlgn val="ctr"/>
        <c:lblOffset val="100"/>
        <c:noMultiLvlLbl val="1"/>
      </c:catAx>
      <c:valAx>
        <c:axId val="101762219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18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Topik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B3C"/>
              </a:solidFill>
              <a:effectLst/>
            </c:spPr>
          </c:dPt>
          <c:dPt>
            <c:idx val="1"/>
            <c:bubble3D val="0"/>
            <c:spPr>
              <a:solidFill>
                <a:srgbClr val="2D9A5F"/>
              </a:solidFill>
              <a:effectLst/>
            </c:spPr>
          </c:dPt>
          <c:dPt>
            <c:idx val="2"/>
            <c:bubble3D val="0"/>
            <c:spPr>
              <a:solidFill>
                <a:srgbClr val="6DC791"/>
              </a:solidFill>
              <a:effectLst/>
            </c:spPr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Diabetes (umum)</c:v>
                </c:pt>
                <c:pt idx="1">
                  <c:v>Penjelasan DM</c:v>
                </c:pt>
                <c:pt idx="2">
                  <c:v>Penjelasan Klinis</c:v>
                </c:pt>
                <c:pt idx="3">
                  <c:v>Pencegahan</c:v>
                </c:pt>
                <c:pt idx="4">
                  <c:v>Tipe 1 &amp; 2</c:v>
                </c:pt>
                <c:pt idx="5">
                  <c:v>Lainnya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2141</c:v>
                </c:pt>
                <c:pt idx="1">
                  <c:v>1027</c:v>
                </c:pt>
                <c:pt idx="2">
                  <c:v>348</c:v>
                </c:pt>
                <c:pt idx="3">
                  <c:v>321</c:v>
                </c:pt>
                <c:pt idx="4">
                  <c:v>169</c:v>
                </c:pt>
                <c:pt idx="5">
                  <c:v>290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329"/>
                </a:solidFill>
                <a:latin typeface="Arial"/>
              </a:defRPr>
            </a:pPr>
            <a:r>
              <a:rPr lang="it-IT" sz="1200" b="0" i="0" u="none" strike="noStrike">
                <a:solidFill>
                  <a:srgbClr val="1F3329"/>
                </a:solidFill>
                <a:latin typeface="Arial"/>
              </a:rPr>
              <a:t>Rata-rata Trend Score per Platform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 Trend Score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2D9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C79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3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Google Trends</c:v>
                </c:pt>
                <c:pt idx="1">
                  <c:v>Threads</c:v>
                </c:pt>
                <c:pt idx="2">
                  <c:v>X (Twitter)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180</c:v>
                </c:pt>
                <c:pt idx="2">
                  <c:v>120</c:v>
                </c:pt>
                <c:pt idx="3">
                  <c:v>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17623824"/>
        <c:axId val="1017616208"/>
      </c:barChart>
      <c:catAx>
        <c:axId val="10176238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16208"/>
        <c:crosses val="autoZero"/>
        <c:auto val="1"/>
        <c:lblAlgn val="ctr"/>
        <c:lblOffset val="100"/>
        <c:noMultiLvlLbl val="1"/>
      </c:catAx>
      <c:valAx>
        <c:axId val="1017616208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23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329"/>
                </a:solidFill>
                <a:latin typeface="Arial"/>
              </a:defRPr>
            </a:pPr>
            <a:r>
              <a:rPr lang="it-IT" sz="1200" b="0" i="0" u="none" strike="noStrike">
                <a:solidFill>
                  <a:srgbClr val="1F3329"/>
                </a:solidFill>
                <a:latin typeface="Arial"/>
              </a:rPr>
              <a:t>Rata-rata Trend Score per Topik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 Score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9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C79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3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Klinis DM</c:v>
                </c:pt>
                <c:pt idx="1">
                  <c:v>Diabetes Umum</c:v>
                </c:pt>
                <c:pt idx="2">
                  <c:v>Tipe 1&amp;2</c:v>
                </c:pt>
                <c:pt idx="3">
                  <c:v>Pencegahan</c:v>
                </c:pt>
                <c:pt idx="4">
                  <c:v>Penjelasan DM</c:v>
                </c:pt>
                <c:pt idx="5">
                  <c:v>Gejala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</c:v>
                </c:pt>
                <c:pt idx="1">
                  <c:v>3.7</c:v>
                </c:pt>
                <c:pt idx="2">
                  <c:v>1.37</c:v>
                </c:pt>
                <c:pt idx="3">
                  <c:v>0.47</c:v>
                </c:pt>
                <c:pt idx="4">
                  <c:v>0.67</c:v>
                </c:pt>
                <c:pt idx="5">
                  <c:v>0.21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17626544"/>
        <c:axId val="1017626000"/>
      </c:barChart>
      <c:catAx>
        <c:axId val="1017626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26000"/>
        <c:crosses val="autoZero"/>
        <c:auto val="1"/>
        <c:lblAlgn val="ctr"/>
        <c:lblOffset val="100"/>
        <c:noMultiLvlLbl val="1"/>
      </c:catAx>
      <c:valAx>
        <c:axId val="101762600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26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329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329"/>
                </a:solidFill>
                <a:latin typeface="Arial"/>
              </a:rPr>
              <a:t>Distribusi Likes per Platform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991628887298181"/>
          <c:y val="0.31623554000194415"/>
          <c:w val="0.86230593334924044"/>
          <c:h val="0.485286769709341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Likes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X (Twitter)</c:v>
                </c:pt>
                <c:pt idx="1">
                  <c:v>YouTube</c:v>
                </c:pt>
                <c:pt idx="2">
                  <c:v>Threads</c:v>
                </c:pt>
                <c:pt idx="3">
                  <c:v>Google Trends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1337</c:v>
                </c:pt>
                <c:pt idx="1">
                  <c:v>565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Likes</c:v>
                </c:pt>
              </c:strCache>
            </c:strRef>
          </c:tx>
          <c:spPr>
            <a:solidFill>
              <a:srgbClr val="6DC79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X (Twitter)</c:v>
                </c:pt>
                <c:pt idx="1">
                  <c:v>YouTube</c:v>
                </c:pt>
                <c:pt idx="2">
                  <c:v>Threads</c:v>
                </c:pt>
                <c:pt idx="3">
                  <c:v>Google Trends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1.7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7621104"/>
        <c:axId val="1017611856"/>
      </c:barChart>
      <c:catAx>
        <c:axId val="1017621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11856"/>
        <c:crosses val="autoZero"/>
        <c:auto val="1"/>
        <c:lblAlgn val="ctr"/>
        <c:lblOffset val="100"/>
        <c:noMultiLvlLbl val="1"/>
      </c:catAx>
      <c:valAx>
        <c:axId val="101761185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101762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11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21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14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45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D9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6DC791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2D9A5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0080"/>
            <a:ext cx="5669280" cy="38404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640080"/>
            <a:ext cx="5669280" cy="9144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94157" y="164778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3800" b="1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Analisis Big Data dan Tren Penyakit Diabetes dalam Kesehatan Masyarakat Modern</a:t>
            </a:r>
            <a:endParaRPr lang="en-US" sz="3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425067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dirty="0" smtClean="0">
                <a:solidFill>
                  <a:schemeClr val="accent6">
                    <a:lumMod val="75000"/>
                  </a:schemeClr>
                </a:solidFill>
              </a:rPr>
              <a:t>Big Data D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5320" y="3236190"/>
            <a:ext cx="3200400" cy="36576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6DC79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13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b="1" dirty="0" smtClean="0">
                <a:solidFill>
                  <a:srgbClr val="1A6B3C"/>
                </a:solidFill>
                <a:latin typeface="Calibri" pitchFamily="34" charset="0"/>
                <a:cs typeface="Calibri" pitchFamily="34" charset="-120"/>
              </a:rPr>
              <a:t>MIE AYAM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1252" y="2761488"/>
            <a:ext cx="4114800" cy="4114800"/>
          </a:xfrm>
          <a:prstGeom prst="ellipse">
            <a:avLst/>
          </a:prstGeom>
          <a:solidFill>
            <a:srgbClr val="2D9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78532" y="2185416"/>
            <a:ext cx="2743200" cy="2743200"/>
          </a:xfrm>
          <a:prstGeom prst="ellipse">
            <a:avLst/>
          </a:prstGeom>
          <a:solidFill>
            <a:srgbClr val="6DC791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2D9A5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199" y="640080"/>
            <a:ext cx="8037871" cy="38404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640080"/>
            <a:ext cx="8037870" cy="118872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9" name="Text 7"/>
          <p:cNvSpPr/>
          <p:nvPr/>
        </p:nvSpPr>
        <p:spPr>
          <a:xfrm>
            <a:off x="2497394" y="39305"/>
            <a:ext cx="5303520" cy="50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38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MEET OUR TE	AM</a:t>
            </a:r>
            <a:endParaRPr lang="en-US" sz="3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1917290"/>
            <a:ext cx="5303520" cy="68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91031" y="3108124"/>
            <a:ext cx="1690165" cy="34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1400" dirty="0" smtClean="0">
                <a:solidFill>
                  <a:schemeClr val="accent6">
                    <a:lumMod val="75000"/>
                  </a:schemeClr>
                </a:solidFill>
              </a:rPr>
              <a:t>Fabio Arayya Pratama</a:t>
            </a:r>
          </a:p>
          <a:p>
            <a:pPr marL="0" indent="0" algn="ctr">
              <a:buNone/>
            </a:pPr>
            <a:r>
              <a:rPr lang="id-ID" sz="1400" dirty="0" smtClean="0">
                <a:solidFill>
                  <a:schemeClr val="accent6">
                    <a:lumMod val="75000"/>
                  </a:schemeClr>
                </a:solidFill>
              </a:rPr>
              <a:t>24083010064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 flipV="1">
            <a:off x="640080" y="3538728"/>
            <a:ext cx="7530526" cy="109728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6DC79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081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b="1" dirty="0" smtClean="0">
                <a:solidFill>
                  <a:srgbClr val="1A6B3C"/>
                </a:solidFill>
                <a:latin typeface="Calibri" pitchFamily="34" charset="0"/>
                <a:cs typeface="Calibri" pitchFamily="34" charset="-120"/>
              </a:rPr>
              <a:t>MIE AYAM</a:t>
            </a:r>
            <a:endParaRPr lang="en-US" dirty="0"/>
          </a:p>
        </p:txBody>
      </p:sp>
      <p:sp>
        <p:nvSpPr>
          <p:cNvPr id="18" name="Text 9"/>
          <p:cNvSpPr/>
          <p:nvPr/>
        </p:nvSpPr>
        <p:spPr>
          <a:xfrm>
            <a:off x="487678" y="3114171"/>
            <a:ext cx="2659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1400" dirty="0" smtClean="0">
                <a:solidFill>
                  <a:schemeClr val="accent6">
                    <a:lumMod val="75000"/>
                  </a:schemeClr>
                </a:solidFill>
              </a:rPr>
              <a:t>Johanes Efata Putra Diaz Prasetyo</a:t>
            </a:r>
          </a:p>
          <a:p>
            <a:pPr marL="0" indent="0" algn="ctr">
              <a:buNone/>
            </a:pPr>
            <a:r>
              <a:rPr lang="id-ID" sz="1400" dirty="0" smtClean="0">
                <a:solidFill>
                  <a:schemeClr val="accent6">
                    <a:lumMod val="75000"/>
                  </a:schemeClr>
                </a:solidFill>
              </a:rPr>
              <a:t>24083010016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9"/>
          <p:cNvSpPr/>
          <p:nvPr/>
        </p:nvSpPr>
        <p:spPr>
          <a:xfrm>
            <a:off x="6286745" y="3108124"/>
            <a:ext cx="15082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1400" dirty="0" smtClean="0">
                <a:solidFill>
                  <a:schemeClr val="accent6">
                    <a:lumMod val="75000"/>
                  </a:schemeClr>
                </a:solidFill>
              </a:rPr>
              <a:t>Dani Shofi Nur Izza</a:t>
            </a:r>
          </a:p>
          <a:p>
            <a:pPr marL="0" indent="0" algn="ctr">
              <a:buNone/>
            </a:pPr>
            <a:r>
              <a:rPr lang="id-ID" sz="1400" dirty="0" smtClean="0">
                <a:solidFill>
                  <a:schemeClr val="accent6">
                    <a:lumMod val="75000"/>
                  </a:schemeClr>
                </a:solidFill>
              </a:rPr>
              <a:t>24083010124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15" y="910080"/>
            <a:ext cx="1557879" cy="213487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206" y="920967"/>
            <a:ext cx="1598773" cy="213229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224" y="923130"/>
            <a:ext cx="1570044" cy="209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7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Diabetes Penting Dianalisis dengan Pendekatan Big Data?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3931920" cy="10972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Konteks Global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juta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penderita diabetes secara global (IDF, 2021)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peringkat ke-7 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dunia dengan ~19,5 juta penderita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2045: 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 juta penderita global — meningkat 46%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kesehatan global akibat diabetes mencapai </a:t>
            </a: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966 miliar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4297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005840"/>
            <a:ext cx="4297680" cy="109728"/>
          </a:xfrm>
          <a:prstGeom prst="rect">
            <a:avLst/>
          </a:prstGeom>
          <a:solidFill>
            <a:srgbClr val="2D9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Relevansi Big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15087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menghasilkan jutaan diskusi tentang penyakit setiap hari — data ini belum dimanfaatkan optimal.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memungkinkan analisis tren kesadaran publik secara real-time untuk mendukung kebijakan kesehatan.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ini menggabungkan </a:t>
            </a: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X (Twitter), Threads &amp; Google Trends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pendekatan multi-platform yang komprehensif.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Analisis dan Nilai yang Ingin Dicapai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85800" cy="1691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Tren Publik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bagaimana topik diabetes dibicarakan di media sosial dan tren pencariannya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r>
              <a:rPr lang="id-ID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–2026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51560"/>
            <a:ext cx="685800" cy="1691640"/>
          </a:xfrm>
          <a:prstGeom prst="rect">
            <a:avLst/>
          </a:prstGeom>
          <a:solidFill>
            <a:srgbClr val="2D9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Topik &amp; Sentimen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1554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topik paling dominan yang didiskusikan publik: gejala, pengobatan, komplikasi, atau tipe diabetes.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685800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Platform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429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perilaku diskusi antar platform (YouTube, X, Threads, Google Trends) untuk memahami karakteristik masing-masing.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926080"/>
            <a:ext cx="685800" cy="169164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Keputusan Kesehatan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3429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insight berbasis data yang dapat digunakan oleh tenaga kesehatan dan pembuat kebijakan.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&amp; Deskripsi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Multi-Platform Berbahasa Indonesia (</a:t>
            </a:r>
            <a:r>
              <a:rPr lang="en-US" sz="1100" i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r>
              <a:rPr lang="id-ID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00" i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–2026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1920240" cy="12801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3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3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id-ID" sz="3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12801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3200" b="1" dirty="0" smtClean="0">
                <a:solidFill>
                  <a:srgbClr val="1A6B3C"/>
                </a:solidFill>
                <a:latin typeface="Calibri" pitchFamily="34" charset="0"/>
                <a:cs typeface="Calibri" pitchFamily="34" charset="-120"/>
              </a:rPr>
              <a:t>44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/ Variabel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20240" cy="12801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Sumber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005840"/>
            <a:ext cx="1920240" cy="12801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3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3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7512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68880"/>
            <a:ext cx="3931920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Dataset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807208"/>
            <a:ext cx="3931920" cy="338328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825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28254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8608" y="2825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X, Threads, Google Trends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45536"/>
            <a:ext cx="3931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163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3163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78608" y="31638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posting/trend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83864"/>
            <a:ext cx="3931920" cy="338328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3502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5021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bebas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78608" y="3502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Komentar, tweet, atau thread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22192"/>
            <a:ext cx="3931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3840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63040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78608" y="3840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likes/engagement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160520"/>
            <a:ext cx="3931920" cy="338328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4178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63040" y="41788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78608" y="41788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9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</a:t>
            </a:r>
            <a:r>
              <a:rPr lang="en-US" sz="9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topik diabetes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498848"/>
            <a:ext cx="3931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45171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trend_score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63040" y="4517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 (0–100)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78608" y="45171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tren Google Trends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80560" y="2468880"/>
            <a:ext cx="42976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80560" y="2468880"/>
            <a:ext cx="4297680" cy="320040"/>
          </a:xfrm>
          <a:prstGeom prst="rect">
            <a:avLst/>
          </a:prstGeom>
          <a:solidFill>
            <a:srgbClr val="2D9A5F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72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per Platform</a:t>
            </a:r>
            <a:endParaRPr lang="en-US" sz="1200" dirty="0"/>
          </a:p>
        </p:txBody>
      </p:sp>
      <p:graphicFrame>
        <p:nvGraphicFramePr>
          <p:cNvPr id="48" name="Chart 0"/>
          <p:cNvGraphicFramePr/>
          <p:nvPr>
            <p:extLst>
              <p:ext uri="{D42A27DB-BD31-4B8C-83A1-F6EECF244321}">
                <p14:modId xmlns:p14="http://schemas.microsoft.com/office/powerpoint/2010/main" val="2324582742"/>
              </p:ext>
            </p:extLst>
          </p:nvPr>
        </p:nvGraphicFramePr>
        <p:xfrm>
          <a:off x="4572000" y="283464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Shape 4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5V — Volume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257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Dataset yang </a:t>
            </a:r>
            <a:r>
              <a:rPr lang="en-US" sz="1100" dirty="0" err="1"/>
              <a:t>digunakan</a:t>
            </a:r>
            <a:r>
              <a:rPr lang="en-US" sz="1100" dirty="0"/>
              <a:t> </a:t>
            </a:r>
            <a:r>
              <a:rPr lang="en-US" sz="1100" dirty="0" err="1"/>
              <a:t>memiliki</a:t>
            </a:r>
            <a:r>
              <a:rPr lang="en-US" sz="1100" dirty="0"/>
              <a:t> volume </a:t>
            </a:r>
            <a:r>
              <a:rPr lang="en-US" sz="1100" dirty="0" err="1"/>
              <a:t>besar</a:t>
            </a:r>
            <a:r>
              <a:rPr lang="en-US" sz="1100" dirty="0"/>
              <a:t> yang </a:t>
            </a:r>
            <a:r>
              <a:rPr lang="en-US" sz="1100" dirty="0" err="1"/>
              <a:t>berasal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</a:t>
            </a:r>
            <a:r>
              <a:rPr lang="en-US" sz="1100" dirty="0" err="1"/>
              <a:t>berbagai</a:t>
            </a:r>
            <a:r>
              <a:rPr lang="en-US" sz="1100" dirty="0"/>
              <a:t> platform digital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jumlah</a:t>
            </a:r>
            <a:r>
              <a:rPr lang="en-US" sz="1100" dirty="0"/>
              <a:t> data yang </a:t>
            </a:r>
            <a:r>
              <a:rPr lang="en-US" sz="1100" dirty="0" err="1"/>
              <a:t>terus</a:t>
            </a:r>
            <a:r>
              <a:rPr lang="en-US" sz="1100" dirty="0"/>
              <a:t> </a:t>
            </a:r>
            <a:r>
              <a:rPr lang="en-US" sz="1100" dirty="0" err="1"/>
              <a:t>bertambah</a:t>
            </a:r>
            <a:r>
              <a:rPr lang="en-US" sz="1100" dirty="0"/>
              <a:t> </a:t>
            </a:r>
            <a:r>
              <a:rPr lang="en-US" sz="1100" dirty="0" err="1"/>
              <a:t>seiring</a:t>
            </a:r>
            <a:r>
              <a:rPr lang="en-US" sz="1100" dirty="0"/>
              <a:t> </a:t>
            </a:r>
            <a:r>
              <a:rPr lang="en-US" sz="1100" dirty="0" err="1"/>
              <a:t>waktu</a:t>
            </a:r>
            <a:r>
              <a:rPr lang="en-US" sz="1100" dirty="0"/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24890"/>
            <a:ext cx="5029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0" cy="10972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61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Volume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7.354</a:t>
            </a:r>
            <a:r>
              <a:rPr lang="en-US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data multi-platform dari YouTube, X, Threads, dan Google Trends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id-ID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097</a:t>
            </a:r>
            <a:r>
              <a:rPr lang="en-US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dari YouTube 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id-ID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id-ID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data)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1.519 records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dari X/Twitter 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id-ID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id-ID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</a:t>
            </a:r>
            <a:r>
              <a:rPr lang="en-US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(7,22%)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478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200" b="1" dirty="0" smtClean="0">
                <a:solidFill>
                  <a:srgbClr val="1A6B3C"/>
                </a:solidFill>
                <a:latin typeface="Calibri" pitchFamily="34" charset="0"/>
                <a:cs typeface="Calibri" pitchFamily="34" charset="-120"/>
              </a:rPr>
              <a:t>4.116 records = </a:t>
            </a:r>
            <a:r>
              <a:rPr lang="id-ID" sz="1200" dirty="0" smtClean="0">
                <a:latin typeface="Calibri" pitchFamily="34" charset="0"/>
                <a:cs typeface="Calibri" pitchFamily="34" charset="-120"/>
              </a:rPr>
              <a:t>dari Google </a:t>
            </a:r>
            <a:r>
              <a:rPr lang="id-ID" sz="1200" dirty="0" smtClean="0">
                <a:latin typeface="Calibri" pitchFamily="34" charset="0"/>
                <a:cs typeface="Calibri" pitchFamily="34" charset="-120"/>
              </a:rPr>
              <a:t>Trend (55,97%)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416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</a:t>
            </a:r>
            <a:r>
              <a:rPr lang="en-US" sz="12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r>
              <a:rPr lang="id-ID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–2026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mencakup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</a:t>
            </a:r>
            <a:r>
              <a:rPr lang="en-US" sz="12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002411"/>
            <a:ext cx="3200400" cy="3807714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10607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id-ID" sz="1200" b="1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67572" y="3260433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Total volume data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mencapai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7.354 records yang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dikumpulkan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empat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sumber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berbeda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. Data volume yang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substansial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ini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menunjukkan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bahwa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ada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diskusi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cukup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aktif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tentang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diabetes di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berbagai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platform media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sosial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dan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sumber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 online </a:t>
            </a:r>
            <a:r>
              <a:rPr lang="en-US" sz="1050" dirty="0" err="1">
                <a:solidFill>
                  <a:schemeClr val="accent6">
                    <a:lumMod val="50000"/>
                  </a:schemeClr>
                </a:solidFill>
              </a:rPr>
              <a:t>lainnya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420557"/>
            <a:ext cx="3134144" cy="1941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2743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5V — Velocity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Cepat Data Dihasilkan dan Berubah?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8412480" cy="10972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7"/>
          <p:cNvSpPr/>
          <p:nvPr/>
        </p:nvSpPr>
        <p:spPr>
          <a:xfrm>
            <a:off x="535305" y="10668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Temporal Data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0" y="1417320"/>
            <a:ext cx="3108960" cy="10515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0644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Real-time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1773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dikumpulkan secara batch (scraping berkala). Bukan real-time streaming, namun mencakup rentang waktu panjang.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2606040"/>
            <a:ext cx="3108960" cy="10515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2670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</a:t>
            </a: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1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r>
              <a:rPr lang="en-US" sz="11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29626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72-85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tahun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aktivitas tinggi, kemungkinan terkait kampanye kesehatan.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3794760"/>
            <a:ext cx="3108960" cy="10515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3858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untuk Kesehatan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06440" y="41513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pemantauan real-time berbasis data ini dapat menjadi early warning system untuk lonjakan kasus penyakit.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353827"/>
            <a:ext cx="4716780" cy="108344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2567741"/>
            <a:ext cx="4937760" cy="2233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2743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5V — Variety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Keberagaman Jenis dan Sumber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5029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0" cy="10972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61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Topik Konten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417320"/>
          <a:ext cx="4846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1005840"/>
            <a:ext cx="32004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005840"/>
            <a:ext cx="3200400" cy="109728"/>
          </a:xfrm>
          <a:prstGeom prst="rect">
            <a:avLst/>
          </a:prstGeom>
          <a:solidFill>
            <a:srgbClr val="2D9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1161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Data dalam Dataset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23560" y="1508760"/>
            <a:ext cx="3108960" cy="566928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Teks Tidak Terstruktur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0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Komentar, tweet, thread — membutuhkan NLP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23560" y="2139696"/>
            <a:ext cx="3108960" cy="566928"/>
          </a:xfrm>
          <a:prstGeom prst="rect">
            <a:avLst/>
          </a:prstGeom>
          <a:solidFill>
            <a:srgbClr val="F5FBF7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0" y="2167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Data Temporal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15000" y="24140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untuk analisis tren waktu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2770632"/>
            <a:ext cx="3108960" cy="566928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0" y="27980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Data Numerik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15000" y="3044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&amp; trend_score untuk kuantifikasi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23560" y="3401568"/>
            <a:ext cx="3108960" cy="566928"/>
          </a:xfrm>
          <a:prstGeom prst="rect">
            <a:avLst/>
          </a:prstGeom>
          <a:solidFill>
            <a:srgbClr val="F5FBF7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0" y="3429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Kategorikal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15000" y="3675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sumber &amp; topik berlabel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23560" y="4032504"/>
            <a:ext cx="3108960" cy="566928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0" y="4059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Multi-Platform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15000" y="4306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sumber berbeda: sosmed + search engine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2743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5V — Veracity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dan Keandalan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5029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33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Kualitas Data (Missing Values)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44168"/>
            <a:ext cx="5029200" cy="237744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362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371600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6DC79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Lengkap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581912"/>
            <a:ext cx="5029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0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r>
              <a:rPr lang="en-US" sz="10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id-ID" sz="10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0,761</a:t>
            </a:r>
            <a:r>
              <a:rPr lang="en-US" sz="100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1609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r>
              <a:rPr lang="en-US" sz="90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Sinifikan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819656"/>
            <a:ext cx="5029200" cy="237744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837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1837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(0,7%)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1847088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6DC791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18470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Minimal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057400"/>
            <a:ext cx="5029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075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20756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0440" y="2084832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6DC791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084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Lengkap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295144"/>
            <a:ext cx="5029200" cy="237744"/>
          </a:xfrm>
          <a:prstGeom prst="rect">
            <a:avLst/>
          </a:prstGeom>
          <a:solidFill>
            <a:srgbClr val="C8EDD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2313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20440" y="2322576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6DC791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23225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Lengkap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2532888"/>
            <a:ext cx="50292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trend_score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28800" y="25511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20440" y="2560320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6DC791"/>
          </a:solidFill>
          <a:ln/>
        </p:spPr>
      </p:sp>
      <p:sp>
        <p:nvSpPr>
          <p:cNvPr id="39" name="Text 37"/>
          <p:cNvSpPr/>
          <p:nvPr/>
        </p:nvSpPr>
        <p:spPr>
          <a:xfrm>
            <a:off x="3520440" y="2560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Lengkap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926080"/>
            <a:ext cx="50292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2926080"/>
            <a:ext cx="50292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3081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 Veracity yang Ditemukan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38100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veracity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bahwa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besar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yang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preprocessing,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adanya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value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Dataset X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value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sebesar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5.6%,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tersebut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mempengaruhi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inti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Oleh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dataset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optimal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data,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meskipun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3776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" y="4096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4416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77840" y="1005840"/>
            <a:ext cx="3200400" cy="379476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577840" y="1005840"/>
            <a:ext cx="3200400" cy="109728"/>
          </a:xfrm>
          <a:prstGeom prst="rect">
            <a:avLst/>
          </a:prstGeom>
          <a:solidFill>
            <a:srgbClr val="2D9A5F"/>
          </a:solidFill>
          <a:ln/>
        </p:spPr>
      </p:sp>
      <p:sp>
        <p:nvSpPr>
          <p:cNvPr id="49" name="Text 47"/>
          <p:cNvSpPr/>
          <p:nvPr/>
        </p:nvSpPr>
        <p:spPr>
          <a:xfrm>
            <a:off x="5669280" y="1161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Keandalan Data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0" y="150876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715000" y="16916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0080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Kelengkapan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669280" y="2304288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21"/>
          <p:cNvSpPr/>
          <p:nvPr/>
        </p:nvSpPr>
        <p:spPr>
          <a:xfrm>
            <a:off x="3528060" y="1600200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6DC791"/>
          </a:solidFill>
          <a:ln/>
        </p:spPr>
      </p:sp>
      <p:sp>
        <p:nvSpPr>
          <p:cNvPr id="55" name="Shape 53"/>
          <p:cNvSpPr/>
          <p:nvPr/>
        </p:nvSpPr>
        <p:spPr>
          <a:xfrm>
            <a:off x="5715000" y="2350008"/>
            <a:ext cx="594360" cy="594360"/>
          </a:xfrm>
          <a:prstGeom prst="ellipse">
            <a:avLst/>
          </a:prstGeom>
          <a:solidFill>
            <a:srgbClr val="2D9A5F"/>
          </a:solidFill>
          <a:ln/>
        </p:spPr>
      </p:sp>
      <p:sp>
        <p:nvSpPr>
          <p:cNvPr id="56" name="Text 54"/>
          <p:cNvSpPr/>
          <p:nvPr/>
        </p:nvSpPr>
        <p:spPr>
          <a:xfrm>
            <a:off x="5715000" y="248716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d-ID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0080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669280" y="3099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715000" y="3145536"/>
            <a:ext cx="594360" cy="5943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60" name="Text 58"/>
          <p:cNvSpPr/>
          <p:nvPr/>
        </p:nvSpPr>
        <p:spPr>
          <a:xfrm>
            <a:off x="5715000" y="32826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400800" y="32826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Label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69280" y="3895344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715000" y="3941064"/>
            <a:ext cx="594360" cy="5943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64" name="Text 62"/>
          <p:cNvSpPr/>
          <p:nvPr/>
        </p:nvSpPr>
        <p:spPr>
          <a:xfrm>
            <a:off x="5715000" y="407822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400800" y="40782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Keunikan Teks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8" name="Text 22"/>
          <p:cNvSpPr/>
          <p:nvPr/>
        </p:nvSpPr>
        <p:spPr>
          <a:xfrm>
            <a:off x="3512820" y="1609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Minimal</a:t>
            </a:r>
            <a:endParaRPr lang="en-US" sz="900" dirty="0"/>
          </a:p>
        </p:txBody>
      </p:sp>
      <p:sp>
        <p:nvSpPr>
          <p:cNvPr id="69" name="Shape 61"/>
          <p:cNvSpPr/>
          <p:nvPr/>
        </p:nvSpPr>
        <p:spPr>
          <a:xfrm>
            <a:off x="5715000" y="1541526"/>
            <a:ext cx="594360" cy="5943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70" name="Text 58"/>
          <p:cNvSpPr/>
          <p:nvPr/>
        </p:nvSpPr>
        <p:spPr>
          <a:xfrm>
            <a:off x="5715000" y="16687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id-ID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2743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5V — Value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Strategis dari Analisis Data Ini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515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265176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Klinis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topik paling sering ditanyakan publik membantu tenaga medis membuat konten edukasi yang tepat sasaran.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73152"/>
          </a:xfrm>
          <a:prstGeom prst="rect">
            <a:avLst/>
          </a:prstGeom>
          <a:solidFill>
            <a:srgbClr val="2D9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13048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Komunikasi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 yang paling efektif menyebarkan informasi diabetes dapat didentifikasi dari analisis engagement.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515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93408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Kebijakan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score yang meningkat sejak 2022 mengindikasikan meningkatnya kekhawatiran publik — sinyal untuk kampanye nasional.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7180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688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Akademik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ini dapat dikembangkan menjadi corpus NLP untuk sentiment analysis atau disease surveillance system.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97180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971800"/>
            <a:ext cx="265176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13048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Real-Time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352044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pembaruan berkelanjutan, sistem dapat mendeteksi lonjakan diskusi yang berkorelasi dengan lonjakan kasus.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97180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93408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Sosial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52044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Literasi digital kesehatan masyarakat Indonesia dapat diukur dan ditingkatkan berdasarkan insight dari data ini.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</a:t>
            </a: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Trend Score per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Shape 4"/>
          <p:cNvSpPr/>
          <p:nvPr/>
        </p:nvSpPr>
        <p:spPr>
          <a:xfrm>
            <a:off x="325755" y="3401568"/>
            <a:ext cx="8406765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4381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Insight Visualisasi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1500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18470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1500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8986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744468"/>
            <a:ext cx="8275320" cy="91440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3400" y="3950208"/>
            <a:ext cx="810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analisis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diabetes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menghasilkan</a:t>
            </a:r>
            <a:r>
              <a:rPr lang="en-US" sz="1400" dirty="0"/>
              <a:t> </a:t>
            </a:r>
            <a:r>
              <a:rPr lang="en-US" sz="1400" dirty="0" err="1"/>
              <a:t>sinyal</a:t>
            </a:r>
            <a:r>
              <a:rPr lang="en-US" sz="1400" dirty="0"/>
              <a:t> digital yang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mendahului</a:t>
            </a:r>
            <a:r>
              <a:rPr lang="en-US" sz="1400" dirty="0"/>
              <a:t> di media </a:t>
            </a:r>
            <a:r>
              <a:rPr lang="en-US" sz="1400" dirty="0" err="1"/>
              <a:t>sosial</a:t>
            </a:r>
            <a:r>
              <a:rPr lang="en-US" sz="1400" dirty="0"/>
              <a:t> </a:t>
            </a:r>
            <a:r>
              <a:rPr lang="en-US" sz="1400" dirty="0" err="1"/>
              <a:t>seperti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penyakit</a:t>
            </a:r>
            <a:r>
              <a:rPr lang="en-US" sz="1400" dirty="0"/>
              <a:t> </a:t>
            </a:r>
            <a:r>
              <a:rPr lang="en-US" sz="1400" dirty="0" err="1"/>
              <a:t>akut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wabah</a:t>
            </a:r>
            <a:r>
              <a:rPr lang="en-US" sz="1400" dirty="0"/>
              <a:t>. </a:t>
            </a:r>
            <a:r>
              <a:rPr lang="en-US" sz="1400" dirty="0" err="1"/>
              <a:t>Sebaliknya</a:t>
            </a:r>
            <a:r>
              <a:rPr lang="en-US" sz="1400" dirty="0"/>
              <a:t>, </a:t>
            </a:r>
            <a:r>
              <a:rPr lang="en-US" sz="1400" dirty="0" err="1"/>
              <a:t>tren</a:t>
            </a:r>
            <a:r>
              <a:rPr lang="en-US" sz="1400" dirty="0"/>
              <a:t> yang </a:t>
            </a:r>
            <a:r>
              <a:rPr lang="en-US" sz="1400" dirty="0" err="1"/>
              <a:t>muncul</a:t>
            </a:r>
            <a:r>
              <a:rPr lang="en-US" sz="1400" dirty="0"/>
              <a:t> </a:t>
            </a:r>
            <a:r>
              <a:rPr lang="en-US" sz="1400" dirty="0" err="1"/>
              <a:t>bersifat</a:t>
            </a:r>
            <a:r>
              <a:rPr lang="en-US" sz="1400" dirty="0"/>
              <a:t> gradual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stabil</a:t>
            </a:r>
            <a:r>
              <a:rPr lang="en-US" sz="1400" dirty="0"/>
              <a:t>, </a:t>
            </a:r>
            <a:r>
              <a:rPr lang="en-US" sz="1400" dirty="0" err="1"/>
              <a:t>sehingga</a:t>
            </a:r>
            <a:r>
              <a:rPr lang="en-US" sz="1400" dirty="0"/>
              <a:t> media </a:t>
            </a:r>
            <a:r>
              <a:rPr lang="en-US" sz="1400" dirty="0" err="1"/>
              <a:t>sosial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berperan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refleksi</a:t>
            </a:r>
            <a:r>
              <a:rPr lang="en-US" sz="1400" dirty="0"/>
              <a:t> </a:t>
            </a:r>
            <a:r>
              <a:rPr lang="en-US" sz="1400" dirty="0" err="1"/>
              <a:t>diskusi</a:t>
            </a:r>
            <a:r>
              <a:rPr lang="en-US" sz="1400" dirty="0"/>
              <a:t> </a:t>
            </a:r>
            <a:r>
              <a:rPr lang="en-US" sz="1400" dirty="0" err="1"/>
              <a:t>publik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</a:t>
            </a:r>
            <a:r>
              <a:rPr lang="en-US" sz="1400" dirty="0" err="1"/>
              <a:t>alat</a:t>
            </a:r>
            <a:r>
              <a:rPr lang="en-US" sz="1400" dirty="0"/>
              <a:t> </a:t>
            </a:r>
            <a:r>
              <a:rPr lang="en-US" sz="1400" dirty="0" err="1"/>
              <a:t>deteksi</a:t>
            </a:r>
            <a:r>
              <a:rPr lang="en-US" sz="1400" dirty="0"/>
              <a:t> </a:t>
            </a:r>
            <a:r>
              <a:rPr lang="en-US" sz="1400" dirty="0" err="1"/>
              <a:t>dini</a:t>
            </a:r>
            <a:r>
              <a:rPr lang="en-US" sz="1400" dirty="0"/>
              <a:t>.</a:t>
            </a:r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321" y="982980"/>
            <a:ext cx="6420040" cy="2343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Trend Score per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0" y="1005840"/>
            <a:ext cx="3200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200400" cy="10972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161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Insight Visualisasi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23560" y="1508760"/>
            <a:ext cx="3108960" cy="1115568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149733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100" b="1" dirty="0" smtClean="0">
                <a:solidFill>
                  <a:srgbClr val="1A6B3C"/>
                </a:solidFill>
                <a:latin typeface="Calibri" pitchFamily="34" charset="0"/>
                <a:cs typeface="Calibri" pitchFamily="34" charset="-120"/>
              </a:rPr>
              <a:t>Korelasi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186766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00" dirty="0" err="1"/>
              <a:t>Lihat</a:t>
            </a:r>
            <a:r>
              <a:rPr lang="en-US" sz="1000" dirty="0"/>
              <a:t> </a:t>
            </a:r>
            <a:r>
              <a:rPr lang="en-US" sz="1000" dirty="0" err="1"/>
              <a:t>korelasi:Search</a:t>
            </a:r>
            <a:r>
              <a:rPr lang="en-US" sz="1000" dirty="0"/>
              <a:t> vs X → </a:t>
            </a:r>
            <a:r>
              <a:rPr lang="en-US" sz="1000" dirty="0" err="1"/>
              <a:t>rendah</a:t>
            </a:r>
            <a:r>
              <a:rPr lang="en-US" sz="1000" dirty="0"/>
              <a:t> (~0.2–0.3)Search vs Threads → </a:t>
            </a:r>
            <a:r>
              <a:rPr lang="en-US" sz="1000" dirty="0" err="1"/>
              <a:t>rendah</a:t>
            </a:r>
            <a:r>
              <a:rPr lang="en-US" sz="1000" dirty="0"/>
              <a:t> (~0.2)Search vs YouTube → </a:t>
            </a:r>
            <a:r>
              <a:rPr lang="en-US" sz="1000" dirty="0" err="1"/>
              <a:t>sangat</a:t>
            </a:r>
            <a:r>
              <a:rPr lang="en-US" sz="1000" dirty="0"/>
              <a:t> </a:t>
            </a:r>
            <a:r>
              <a:rPr lang="en-US" sz="1000" dirty="0" err="1"/>
              <a:t>rendah</a:t>
            </a:r>
            <a:r>
              <a:rPr lang="en-US" sz="1000" dirty="0"/>
              <a:t> (~0.1 </a:t>
            </a:r>
            <a:r>
              <a:rPr lang="en-US" sz="1000" dirty="0" err="1"/>
              <a:t>atau</a:t>
            </a:r>
            <a:r>
              <a:rPr lang="en-US" sz="1000" dirty="0"/>
              <a:t> </a:t>
            </a:r>
            <a:r>
              <a:rPr lang="en-US" sz="1000" dirty="0" smtClean="0"/>
              <a:t>&lt;) </a:t>
            </a:r>
            <a:r>
              <a:rPr lang="en-US" sz="1000" dirty="0" err="1" smtClean="0"/>
              <a:t>percakapan</a:t>
            </a:r>
            <a:r>
              <a:rPr lang="en-US" sz="1000" dirty="0" smtClean="0"/>
              <a:t> </a:t>
            </a:r>
            <a:r>
              <a:rPr lang="en-US" sz="1000" dirty="0" err="1"/>
              <a:t>publik</a:t>
            </a:r>
            <a:r>
              <a:rPr lang="en-US" sz="1000" dirty="0"/>
              <a:t> </a:t>
            </a:r>
            <a:r>
              <a:rPr lang="en-US" sz="1000" dirty="0" err="1"/>
              <a:t>tidak</a:t>
            </a:r>
            <a:r>
              <a:rPr lang="en-US" sz="1000" dirty="0"/>
              <a:t> </a:t>
            </a:r>
            <a:r>
              <a:rPr lang="en-US" sz="1000" dirty="0" err="1"/>
              <a:t>secara</a:t>
            </a:r>
            <a:r>
              <a:rPr lang="en-US" sz="1000" dirty="0"/>
              <a:t> </a:t>
            </a:r>
            <a:r>
              <a:rPr lang="en-US" sz="1000" dirty="0" err="1"/>
              <a:t>langsung</a:t>
            </a:r>
            <a:r>
              <a:rPr lang="en-US" sz="1000" dirty="0"/>
              <a:t> </a:t>
            </a:r>
            <a:r>
              <a:rPr lang="en-US" sz="1000" dirty="0" err="1"/>
              <a:t>mencerminkan</a:t>
            </a:r>
            <a:r>
              <a:rPr lang="en-US" sz="1000" dirty="0"/>
              <a:t> </a:t>
            </a:r>
            <a:r>
              <a:rPr lang="en-US" sz="1000" dirty="0" err="1"/>
              <a:t>peningkatan</a:t>
            </a:r>
            <a:r>
              <a:rPr lang="en-US" sz="1000" dirty="0"/>
              <a:t> </a:t>
            </a:r>
            <a:r>
              <a:rPr lang="en-US" sz="1000" dirty="0" err="1"/>
              <a:t>minat</a:t>
            </a:r>
            <a:r>
              <a:rPr lang="en-US" sz="1000" dirty="0"/>
              <a:t> </a:t>
            </a:r>
            <a:r>
              <a:rPr lang="en-US" sz="1000" dirty="0" err="1"/>
              <a:t>pencarian</a:t>
            </a:r>
            <a:r>
              <a:rPr lang="en-US" sz="1000" dirty="0"/>
              <a:t> </a:t>
            </a:r>
            <a:r>
              <a:rPr lang="en-US" sz="1000" dirty="0" err="1"/>
              <a:t>terkait</a:t>
            </a:r>
            <a:r>
              <a:rPr lang="en-US" sz="1000" dirty="0"/>
              <a:t> diabetes.</a:t>
            </a:r>
          </a:p>
        </p:txBody>
      </p:sp>
      <p:sp>
        <p:nvSpPr>
          <p:cNvPr id="14" name="Text 11"/>
          <p:cNvSpPr/>
          <p:nvPr/>
        </p:nvSpPr>
        <p:spPr>
          <a:xfrm>
            <a:off x="571500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8986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23560" y="2800907"/>
            <a:ext cx="3108960" cy="1725373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69280" y="28460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100" b="1" dirty="0" smtClean="0">
                <a:solidFill>
                  <a:srgbClr val="1A6B3C"/>
                </a:solidFill>
                <a:latin typeface="Calibri" pitchFamily="34" charset="0"/>
                <a:cs typeface="Calibri" pitchFamily="34" charset="-120"/>
              </a:rPr>
              <a:t>Interpretasi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35570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id-ID" sz="1000" dirty="0" smtClean="0"/>
              <a:t>Tidak </a:t>
            </a:r>
            <a:r>
              <a:rPr lang="en-US" sz="1000" dirty="0" err="1" smtClean="0"/>
              <a:t>ada</a:t>
            </a:r>
            <a:r>
              <a:rPr lang="en-US" sz="1000" dirty="0" smtClean="0"/>
              <a:t> </a:t>
            </a:r>
            <a:r>
              <a:rPr lang="en-US" sz="1000" dirty="0" err="1"/>
              <a:t>hubungan</a:t>
            </a:r>
            <a:r>
              <a:rPr lang="en-US" sz="1000" dirty="0"/>
              <a:t> </a:t>
            </a:r>
            <a:r>
              <a:rPr lang="en-US" sz="1000" dirty="0" err="1"/>
              <a:t>kuat</a:t>
            </a:r>
            <a:r>
              <a:rPr lang="en-US" sz="1000" dirty="0"/>
              <a:t> </a:t>
            </a:r>
            <a:r>
              <a:rPr lang="en-US" sz="1000" dirty="0" err="1"/>
              <a:t>antara</a:t>
            </a:r>
            <a:r>
              <a:rPr lang="en-US" sz="1000" dirty="0"/>
              <a:t> </a:t>
            </a:r>
            <a:r>
              <a:rPr lang="en-US" sz="1000" dirty="0" err="1"/>
              <a:t>sinyal</a:t>
            </a:r>
            <a:r>
              <a:rPr lang="en-US" sz="1000" dirty="0"/>
              <a:t> </a:t>
            </a:r>
            <a:r>
              <a:rPr lang="en-US" sz="1000" dirty="0" err="1"/>
              <a:t>pencarian</a:t>
            </a:r>
            <a:r>
              <a:rPr lang="en-US" sz="1000" dirty="0"/>
              <a:t> </a:t>
            </a:r>
            <a:r>
              <a:rPr lang="en-US" sz="1000" dirty="0" err="1"/>
              <a:t>dan</a:t>
            </a:r>
            <a:r>
              <a:rPr lang="en-US" sz="1000" dirty="0"/>
              <a:t> </a:t>
            </a:r>
            <a:r>
              <a:rPr lang="en-US" sz="1000" dirty="0" err="1"/>
              <a:t>aktivitas</a:t>
            </a:r>
            <a:r>
              <a:rPr lang="en-US" sz="1000" dirty="0"/>
              <a:t> media </a:t>
            </a:r>
            <a:r>
              <a:rPr lang="en-US" sz="1000" dirty="0" err="1"/>
              <a:t>sosial.Hasil</a:t>
            </a:r>
            <a:r>
              <a:rPr lang="en-US" sz="1000" dirty="0"/>
              <a:t> </a:t>
            </a:r>
            <a:r>
              <a:rPr lang="en-US" sz="1000" dirty="0" err="1"/>
              <a:t>analisis</a:t>
            </a:r>
            <a:r>
              <a:rPr lang="en-US" sz="1000" dirty="0"/>
              <a:t> </a:t>
            </a:r>
            <a:r>
              <a:rPr lang="en-US" sz="1000" dirty="0" err="1"/>
              <a:t>korelasi</a:t>
            </a:r>
            <a:r>
              <a:rPr lang="en-US" sz="1000" dirty="0"/>
              <a:t> </a:t>
            </a:r>
            <a:r>
              <a:rPr lang="en-US" sz="1000" dirty="0" err="1"/>
              <a:t>menunjukkan</a:t>
            </a:r>
            <a:r>
              <a:rPr lang="en-US" sz="1000" dirty="0"/>
              <a:t> </a:t>
            </a:r>
            <a:r>
              <a:rPr lang="en-US" sz="1000" dirty="0" err="1"/>
              <a:t>bahwa</a:t>
            </a:r>
            <a:r>
              <a:rPr lang="en-US" sz="1000" dirty="0"/>
              <a:t> </a:t>
            </a:r>
            <a:r>
              <a:rPr lang="en-US" sz="1000" dirty="0" err="1"/>
              <a:t>meskipun</a:t>
            </a:r>
            <a:r>
              <a:rPr lang="en-US" sz="1000" dirty="0"/>
              <a:t> platform media </a:t>
            </a:r>
            <a:r>
              <a:rPr lang="en-US" sz="1000" dirty="0" err="1"/>
              <a:t>sosial</a:t>
            </a:r>
            <a:r>
              <a:rPr lang="en-US" sz="1000" dirty="0"/>
              <a:t> </a:t>
            </a:r>
            <a:r>
              <a:rPr lang="en-US" sz="1000" dirty="0" err="1"/>
              <a:t>memiliki</a:t>
            </a:r>
            <a:r>
              <a:rPr lang="en-US" sz="1000" dirty="0"/>
              <a:t> </a:t>
            </a:r>
            <a:r>
              <a:rPr lang="en-US" sz="1000" dirty="0" err="1"/>
              <a:t>keterkaitan</a:t>
            </a:r>
            <a:r>
              <a:rPr lang="en-US" sz="1000" dirty="0"/>
              <a:t> </a:t>
            </a:r>
            <a:r>
              <a:rPr lang="en-US" sz="1000" dirty="0" err="1"/>
              <a:t>satu</a:t>
            </a:r>
            <a:r>
              <a:rPr lang="en-US" sz="1000" dirty="0"/>
              <a:t> </a:t>
            </a:r>
            <a:r>
              <a:rPr lang="en-US" sz="1000" dirty="0" err="1"/>
              <a:t>sama</a:t>
            </a:r>
            <a:r>
              <a:rPr lang="en-US" sz="1000" dirty="0"/>
              <a:t> lain, </a:t>
            </a:r>
            <a:r>
              <a:rPr lang="en-US" sz="1000" dirty="0" err="1"/>
              <a:t>hubungan</a:t>
            </a:r>
            <a:r>
              <a:rPr lang="en-US" sz="1000" dirty="0"/>
              <a:t> </a:t>
            </a:r>
            <a:r>
              <a:rPr lang="en-US" sz="1000" dirty="0" err="1"/>
              <a:t>antara</a:t>
            </a:r>
            <a:r>
              <a:rPr lang="en-US" sz="1000" dirty="0"/>
              <a:t> media </a:t>
            </a:r>
            <a:r>
              <a:rPr lang="en-US" sz="1000" dirty="0" err="1"/>
              <a:t>sosial</a:t>
            </a:r>
            <a:r>
              <a:rPr lang="en-US" sz="1000" dirty="0"/>
              <a:t> </a:t>
            </a:r>
            <a:r>
              <a:rPr lang="en-US" sz="1000" dirty="0" err="1"/>
              <a:t>dan</a:t>
            </a:r>
            <a:r>
              <a:rPr lang="en-US" sz="1000" dirty="0"/>
              <a:t> </a:t>
            </a:r>
            <a:r>
              <a:rPr lang="en-US" sz="1000" dirty="0" err="1"/>
              <a:t>pencarian</a:t>
            </a:r>
            <a:r>
              <a:rPr lang="en-US" sz="1000" dirty="0"/>
              <a:t> </a:t>
            </a:r>
            <a:r>
              <a:rPr lang="en-US" sz="1000" dirty="0" err="1"/>
              <a:t>relatif</a:t>
            </a:r>
            <a:r>
              <a:rPr lang="en-US" sz="1000" dirty="0"/>
              <a:t> </a:t>
            </a:r>
            <a:r>
              <a:rPr lang="en-US" sz="1000" dirty="0" err="1"/>
              <a:t>lemah</a:t>
            </a:r>
            <a:r>
              <a:rPr lang="en-US" sz="1000" dirty="0"/>
              <a:t>. Hal </a:t>
            </a:r>
            <a:r>
              <a:rPr lang="en-US" sz="1000" dirty="0" err="1"/>
              <a:t>ini</a:t>
            </a:r>
            <a:r>
              <a:rPr lang="en-US" sz="1000" dirty="0"/>
              <a:t> </a:t>
            </a:r>
            <a:r>
              <a:rPr lang="en-US" sz="1000" dirty="0" err="1"/>
              <a:t>mengindikasikan</a:t>
            </a:r>
            <a:r>
              <a:rPr lang="en-US" sz="1000" dirty="0"/>
              <a:t> </a:t>
            </a:r>
            <a:r>
              <a:rPr lang="en-US" sz="1000" dirty="0" err="1"/>
              <a:t>bahwa</a:t>
            </a:r>
            <a:r>
              <a:rPr lang="en-US" sz="1000" dirty="0"/>
              <a:t> </a:t>
            </a:r>
            <a:r>
              <a:rPr lang="en-US" sz="1000" dirty="0" err="1"/>
              <a:t>aktivitas</a:t>
            </a:r>
            <a:r>
              <a:rPr lang="en-US" sz="1000" dirty="0"/>
              <a:t> </a:t>
            </a:r>
            <a:r>
              <a:rPr lang="en-US" sz="1000" dirty="0" err="1"/>
              <a:t>percakapan</a:t>
            </a:r>
            <a:r>
              <a:rPr lang="en-US" sz="1000" dirty="0"/>
              <a:t> </a:t>
            </a:r>
            <a:r>
              <a:rPr lang="en-US" sz="1000" dirty="0" err="1"/>
              <a:t>publik</a:t>
            </a:r>
            <a:r>
              <a:rPr lang="en-US" sz="1000" dirty="0"/>
              <a:t> </a:t>
            </a:r>
            <a:r>
              <a:rPr lang="en-US" sz="1000" dirty="0" err="1"/>
              <a:t>tidak</a:t>
            </a:r>
            <a:r>
              <a:rPr lang="en-US" sz="1000" dirty="0"/>
              <a:t> </a:t>
            </a:r>
            <a:r>
              <a:rPr lang="en-US" sz="1000" dirty="0" err="1"/>
              <a:t>secara</a:t>
            </a:r>
            <a:r>
              <a:rPr lang="en-US" sz="1000" dirty="0"/>
              <a:t> </a:t>
            </a:r>
            <a:r>
              <a:rPr lang="en-US" sz="1000" dirty="0" err="1"/>
              <a:t>langsung</a:t>
            </a:r>
            <a:r>
              <a:rPr lang="en-US" sz="1000" dirty="0"/>
              <a:t> </a:t>
            </a:r>
            <a:r>
              <a:rPr lang="en-US" sz="1000" dirty="0" err="1"/>
              <a:t>mencerminkan</a:t>
            </a:r>
            <a:r>
              <a:rPr lang="en-US" sz="1000" dirty="0"/>
              <a:t> </a:t>
            </a:r>
            <a:r>
              <a:rPr lang="en-US" sz="1000" dirty="0" err="1"/>
              <a:t>peningkatan</a:t>
            </a:r>
            <a:r>
              <a:rPr lang="en-US" sz="1000" dirty="0"/>
              <a:t> </a:t>
            </a:r>
            <a:r>
              <a:rPr lang="en-US" sz="1000" dirty="0" err="1"/>
              <a:t>minat</a:t>
            </a:r>
            <a:r>
              <a:rPr lang="en-US" sz="1000" dirty="0"/>
              <a:t> </a:t>
            </a:r>
            <a:r>
              <a:rPr lang="en-US" sz="1000" dirty="0" err="1"/>
              <a:t>pencarian</a:t>
            </a:r>
            <a:r>
              <a:rPr lang="en-US" sz="1000" dirty="0"/>
              <a:t> </a:t>
            </a:r>
            <a:r>
              <a:rPr lang="en-US" sz="1000" dirty="0" err="1"/>
              <a:t>terkait</a:t>
            </a:r>
            <a:r>
              <a:rPr lang="en-US" sz="1000" dirty="0"/>
              <a:t> diabetes.</a:t>
            </a:r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5" y="980313"/>
            <a:ext cx="4276725" cy="368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7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(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</a:t>
            </a: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Trend Score per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203539132"/>
              </p:ext>
            </p:extLst>
          </p:nvPr>
        </p:nvGraphicFramePr>
        <p:xfrm>
          <a:off x="36576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05840"/>
            <a:ext cx="3200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05840"/>
            <a:ext cx="3200400" cy="10972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161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Insight Visualisasi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23560" y="1508760"/>
            <a:ext cx="3108960" cy="91440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1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</a:t>
            </a:r>
            <a:r>
              <a:rPr lang="en-US" sz="1100" b="1" dirty="0" err="1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18470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 </a:t>
            </a: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jauh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atas platform sosial. Mencerminkan volume pencarian aktif, bukan sekadar konten pasif.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23560" y="2560320"/>
            <a:ext cx="3108960" cy="91440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lebih aktif dari X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8986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 lebih baru, Threads menunjukkan engagement trend score lebih tinggi dari X (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23560" y="3611880"/>
            <a:ext cx="3108960" cy="914400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100" b="1" dirty="0" smtClean="0">
                <a:solidFill>
                  <a:srgbClr val="1A6B3C"/>
                </a:solidFill>
                <a:latin typeface="Calibri" pitchFamily="34" charset="0"/>
                <a:cs typeface="Calibri" pitchFamily="34" charset="-120"/>
              </a:rPr>
              <a:t>Google Trends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950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 </a:t>
            </a: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informarti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bukan viral trending.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  <p:extLst>
      <p:ext uri="{BB962C8B-B14F-4D97-AF65-F5344CB8AC3E}">
        <p14:creationId xmlns:p14="http://schemas.microsoft.com/office/powerpoint/2010/main" val="215903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(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</a:t>
            </a: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Trend Score per Topik Konten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55359586"/>
              </p:ext>
            </p:extLst>
          </p:nvPr>
        </p:nvGraphicFramePr>
        <p:xfrm>
          <a:off x="365760" y="10058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005840"/>
            <a:ext cx="29260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005840"/>
            <a:ext cx="2926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161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Interpretasi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55448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klinis mendominasi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(score </a:t>
            </a:r>
            <a:r>
              <a:rPr lang="id-ID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banyak mencari penjelasan medis mendalam, bukan sekadar informasi umum.
</a:t>
            </a:r>
            <a:r>
              <a:rPr lang="en-US" sz="105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smtClean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</a:t>
            </a:r>
            <a:r>
              <a:rPr lang="id-ID" sz="1050" b="1" dirty="0" smtClean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Gejala’</a:t>
            </a:r>
            <a:r>
              <a:rPr lang="en-US" sz="1050" b="1" dirty="0" smtClean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 score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rendahnya kesadaran publik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ciri-ciri gejala penyakit diabetes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antara topik tertinggi dan terendah </a:t>
            </a:r>
            <a:r>
              <a:rPr lang="en-US" sz="105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mencapai</a:t>
            </a: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b="1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5,99</a:t>
            </a:r>
            <a:r>
              <a:rPr lang="en-US" sz="1050" b="1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ada kebutuhan untuk meningkatkan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pencegahan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klinis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id-ID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r>
              <a:rPr lang="en-US" sz="26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Engagement: Distribusi Likes &amp; Kata Kunci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108202562"/>
              </p:ext>
            </p:extLst>
          </p:nvPr>
        </p:nvGraphicFramePr>
        <p:xfrm>
          <a:off x="365760" y="977265"/>
          <a:ext cx="5029200" cy="1899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1005840"/>
            <a:ext cx="32004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577840" y="1005840"/>
            <a:ext cx="32004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6"/>
          <p:cNvSpPr/>
          <p:nvPr/>
        </p:nvSpPr>
        <p:spPr>
          <a:xfrm>
            <a:off x="5669280" y="1161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Temuan Engagement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0" y="157276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X/Twitter mendominasi viral content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dengan max 1.337 likes — konten tentang komplikasi ginjal diabetes.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'Gula darah'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kata kunci paling sering muncul (248x) — publik sangat fokus pada monitoring kadar gula.
</a:t>
            </a: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&amp; Google Trends: 0 likes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format platform tidak mendukung engagement tipe likes, namun tetap valuable untuk trend analysis.
</a:t>
            </a: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'tipe 1' hanya 19x vs 'tipe 2' 40x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menunjukkan bias diskusi ke diabetes tipe 2 yang lebih umum di Indonesia.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41" y="2922271"/>
            <a:ext cx="5026819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Utama (1/3)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Kritis dari Analisis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731520" cy="182880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727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88720" y="1078992"/>
            <a:ext cx="2743200" cy="566928"/>
          </a:xfrm>
          <a:prstGeom prst="rect">
            <a:avLst/>
          </a:prstGeom>
          <a:solidFill>
            <a:srgbClr val="E8F8EE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Tren Meningkat +119% dalam 7 Tahun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709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Avg trend score naik dari 16,1 (2018) menjadi 35,2 (2025)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7 tahun, tingkat kekhawatiran publik terhadap diabetes meningkat lebih dari dua kali lipat berdasarkan trend score. Puncak terjadi di 2025 dengan skor rata-rata 35,2.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078992"/>
            <a:ext cx="3383280" cy="1682496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188720"/>
            <a:ext cx="3200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Implikasi: Pemerintah perlu meningkatkan program skrining massal dan kampanye pencegahan yang lebih agresif seiring meningkatnya awareness publik.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73152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3872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88720" y="3044952"/>
            <a:ext cx="2743200" cy="566928"/>
          </a:xfrm>
          <a:prstGeom prst="rect">
            <a:avLst/>
          </a:prstGeom>
          <a:solidFill>
            <a:srgbClr val="E8F8EE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8016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Google Trends 4x Lebih Sensitif dari Media Sosial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675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Avg score Google Trends: 82,9 vs Media Sosial: 15,1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aktif mencari informasi (search) jauh lebih kuat dari perilaku pasif membaca atau berkomentar. Ini menunjukkan tingginya urgensi yang dirasakan publik terkait diabetes.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3044952"/>
            <a:ext cx="3383280" cy="1682496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3154680"/>
            <a:ext cx="3200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Implikasi: Strategi kesehatan publik harus memprioritaskan SEO dan konten berbasis pencarian, bukan hanya kampanye media sosial.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Utama (2/3)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Kritis dari Analisis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731520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727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88720" y="1078992"/>
            <a:ext cx="2743200" cy="566928"/>
          </a:xfrm>
          <a:prstGeom prst="rect">
            <a:avLst/>
          </a:prstGeom>
          <a:solidFill>
            <a:srgbClr val="E8F8EE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Lonjakan </a:t>
            </a:r>
            <a:r>
              <a:rPr lang="en-US" sz="1000" b="1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Masif</a:t>
            </a: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b="1" dirty="0" smtClean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</a:t>
            </a:r>
            <a:r>
              <a:rPr lang="en-US" sz="1000" b="1" dirty="0" smtClean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</a:t>
            </a:r>
            <a:r>
              <a:rPr lang="en-US" sz="1000" b="1" dirty="0" smtClean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id-ID" sz="1000" b="1" dirty="0" smtClean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1000" b="1" dirty="0" smtClean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</a:t>
            </a:r>
            <a:r>
              <a:rPr lang="en-US" sz="1000" b="1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</a:t>
            </a: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b="1" dirty="0" smtClean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tahun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09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2026: </a:t>
            </a:r>
            <a:r>
              <a:rPr lang="id-ID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2022 -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id-ID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2-85 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d-ID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72-85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records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dalam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tahun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aktivitas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kemungkinan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terkait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kampanye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kesehatan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078992"/>
            <a:ext cx="3383280" cy="1682496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188720"/>
            <a:ext cx="3200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Implikasi: Lonjakan ini kemungkinan berkorelasi dengan kampanye Hari Diabetes atau kebijakan </a:t>
            </a:r>
            <a:r>
              <a:rPr lang="en-US" sz="1050" dirty="0" err="1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kesehatan</a:t>
            </a: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r>
              <a:rPr lang="id-ID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</a:t>
            </a:r>
            <a:r>
              <a:rPr lang="en-US" sz="1050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lebih lanjut untuk validasi.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731520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3872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88720" y="3044952"/>
            <a:ext cx="2743200" cy="566928"/>
          </a:xfrm>
          <a:prstGeom prst="rect">
            <a:avLst/>
          </a:prstGeom>
          <a:solidFill>
            <a:srgbClr val="E8F8EE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8016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Kesenjangan Edukasi: </a:t>
            </a:r>
            <a:r>
              <a:rPr lang="id-ID" sz="10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Klinis Diabetes Melitus lebih banyak dibahas dibanding gejala diabetes.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19" y="3675888"/>
            <a:ext cx="3488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Kata 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</a:t>
            </a:r>
            <a:r>
              <a:rPr lang="id-ID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Klinis DM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en-US" sz="10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muncul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</a:t>
            </a:r>
            <a:r>
              <a:rPr lang="id-ID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</a:t>
            </a:r>
            <a:r>
              <a:rPr lang="id-ID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en-US" sz="10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</a:t>
            </a:r>
            <a:r>
              <a:rPr lang="id-ID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publik sangat bias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klinis diabetes melitus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Padahal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 pada diabetes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</a:t>
            </a:r>
            <a:r>
              <a:rPr lang="en-US" sz="105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nting untuk </a:t>
            </a:r>
            <a:r>
              <a:rPr lang="en-US" sz="105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Rendahnya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 penyakit diabetes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gap literasi kesehatan.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3044952"/>
            <a:ext cx="3383280" cy="1682496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3154680"/>
            <a:ext cx="3200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Implikasi: Organisasi kesehatan perlu membuat konten </a:t>
            </a:r>
            <a:r>
              <a:rPr lang="en-US" sz="1050" dirty="0" err="1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khusus</a:t>
            </a: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</a:t>
            </a:r>
            <a:r>
              <a:rPr lang="id-ID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50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 penyakit diabetes</a:t>
            </a:r>
            <a:r>
              <a:rPr lang="en-US" sz="1050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meningkatkan awareness dan mengurangi keterlambatan diagnosis.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Utama (3/3)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Kritis dari Analisis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731520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727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88720" y="1078992"/>
            <a:ext cx="2743200" cy="566928"/>
          </a:xfrm>
          <a:prstGeom prst="rect">
            <a:avLst/>
          </a:prstGeom>
          <a:solidFill>
            <a:srgbClr val="E8F8EE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YouTube = Edukatif, X = Viral, Threads = Komunitas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09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YouTube avg likes 1,7 | X max likes 1.337 | Threads trend 19,4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platform memiliki karakter berbeda: YouTube cocok untuk konten edukatif mendalam, X untuk penyebaran cepat (viral), sementara Threads membangun komunitas diskusi aktif. Ketiganya berperan berbeda namun saling melengkapi.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078992"/>
            <a:ext cx="3383280" cy="1682496"/>
          </a:xfrm>
          <a:prstGeom prst="rect">
            <a:avLst/>
          </a:prstGeom>
          <a:solidFill>
            <a:srgbClr val="C8EDD8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188720"/>
            <a:ext cx="3200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Implikasi: Strategi komunikasi kesehatan harus multi-platform dengan pesan yang disesuaikan. YouTube untuk edukasi mendalam, X untuk kampanye viral singkat, Threads untuk komunitas support penderita.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1691640"/>
          </a:xfrm>
          <a:prstGeom prst="rect">
            <a:avLst/>
          </a:prstGeom>
          <a:solidFill>
            <a:srgbClr val="1A6B3C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0906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Ringkasan 5 Insight Kunci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201168" cy="201168"/>
          </a:xfrm>
          <a:prstGeom prst="ellipse">
            <a:avLst/>
          </a:prstGeom>
          <a:solidFill>
            <a:srgbClr val="6DC79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awareness publik naik 119% (2018–2025)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3520440"/>
            <a:ext cx="201168" cy="201168"/>
          </a:xfrm>
          <a:prstGeom prst="ellipse">
            <a:avLst/>
          </a:prstGeom>
          <a:solidFill>
            <a:srgbClr val="6DC791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4x lebih sensitif </a:t>
            </a:r>
            <a:r>
              <a:rPr lang="en-US" sz="1000" dirty="0" err="1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sosmed</a:t>
            </a:r>
            <a:r>
              <a:rPr lang="id-ID" sz="1000" dirty="0" smtClean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201168" cy="201168"/>
          </a:xfrm>
          <a:prstGeom prst="ellipse">
            <a:avLst/>
          </a:prstGeom>
          <a:solidFill>
            <a:srgbClr val="6DC791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</a:t>
            </a:r>
            <a:r>
              <a:rPr lang="en-US" sz="1000" dirty="0" err="1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</a:t>
            </a: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000" dirty="0" smtClean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2022 - </a:t>
            </a:r>
            <a:r>
              <a:rPr lang="en-US" sz="1000" dirty="0" smtClean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</a:t>
            </a: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investigasi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201168" cy="201168"/>
          </a:xfrm>
          <a:prstGeom prst="ellipse">
            <a:avLst/>
          </a:prstGeom>
          <a:solidFill>
            <a:srgbClr val="6DC79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edukasi: </a:t>
            </a:r>
            <a:r>
              <a:rPr lang="id-ID" sz="1000" dirty="0" smtClean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 diabetes</a:t>
            </a:r>
            <a:r>
              <a:rPr lang="en-US" sz="1000" dirty="0" smtClean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kurang dibahas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977640"/>
            <a:ext cx="201168" cy="201168"/>
          </a:xfrm>
          <a:prstGeom prst="ellipse">
            <a:avLst/>
          </a:prstGeom>
          <a:solidFill>
            <a:srgbClr val="6DC791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platform punya peran unik dalam komunikasi kesehatan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 dan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1100" i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</a:t>
            </a:r>
            <a:r>
              <a:rPr lang="en-US" sz="1100" i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206240" cy="914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Tren Meningkat Signifikan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dan pencarian tentang diabetes meningkat konsisten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r>
              <a:rPr lang="id-ID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–2025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mencerminkan meningkatnya kesadaran sekaligus kekhawatiran publik terhadap penyakit ini di Indonesia.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05840"/>
            <a:ext cx="4206240" cy="91440"/>
          </a:xfrm>
          <a:prstGeom prst="rect">
            <a:avLst/>
          </a:prstGeom>
          <a:solidFill>
            <a:srgbClr val="2D9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70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Relevansi Big Data Terbukti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Big Data berhasil mengidentifikasi pola yang tidak bisa ditemukan dengan </a:t>
            </a:r>
            <a:r>
              <a:rPr lang="en-US" sz="1050" dirty="0" err="1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konvensional</a:t>
            </a:r>
            <a:r>
              <a:rPr lang="id-ID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50" dirty="0" smtClean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 anomali lonjakan data, gap edukasi, dan perbedaan karakter platform.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2062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90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Nilai untuk Kesehatan Publik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berbasis data ini dapat langsung digunakan untuk merancang strategi kampanye kesehatan yang tepat sasaran, mengalokasikan sumber daya edukasi, dan memantau efektivitas program kesehatan.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926080"/>
            <a:ext cx="42062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090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Potensi Pengembangan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F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ini dapat dikembangkan dengan menambahkan analisis sentimen (NLP), prediksi tren, integrasi data klinis, dan pemantauan real-time untuk sistem surveillance kesehatan digital.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1A6B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D9A5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6DC791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D9A5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731520"/>
            <a:ext cx="6400800" cy="109728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 err="1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</a:t>
            </a:r>
            <a:r>
              <a:rPr lang="en-US" sz="4200" b="1" dirty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sz="4200" b="1" dirty="0" smtClean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Gaji</a:t>
            </a:r>
            <a:r>
              <a:rPr lang="en-US" sz="4200" b="1" dirty="0" smtClean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200" dirty="0">
              <a:solidFill>
                <a:srgbClr val="6DC79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1874520"/>
            <a:ext cx="2743200" cy="36576"/>
          </a:xfrm>
          <a:prstGeom prst="rect">
            <a:avLst/>
          </a:prstGeom>
          <a:solidFill>
            <a:srgbClr val="6DC79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011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Big Data Diabetes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&amp; Google Trends Indonesia </a:t>
            </a:r>
            <a:r>
              <a:rPr lang="en-US" sz="1300" i="1" dirty="0" smtClean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r>
              <a:rPr lang="id-ID" sz="1300" i="1" dirty="0" smtClean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i="1" dirty="0" smtClean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–2026</a:t>
            </a:r>
            <a:endParaRPr lang="en-US" sz="1300" dirty="0">
              <a:solidFill>
                <a:srgbClr val="6DC79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solidFill>
                <a:srgbClr val="6DC79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333756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6DC79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355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Big Data  |  </a:t>
            </a:r>
            <a:r>
              <a:rPr lang="en-US" sz="1100" b="1" dirty="0" smtClean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id-ID" sz="1400" dirty="0" smtClean="0">
                <a:solidFill>
                  <a:srgbClr val="6DC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Pertanyaan ga</a:t>
            </a:r>
            <a:endParaRPr lang="en-US" sz="14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108" y="245146"/>
            <a:ext cx="1840857" cy="25226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38150"/>
            <a:ext cx="1238250" cy="16514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68" y="2811513"/>
            <a:ext cx="1422838" cy="18976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1773</Words>
  <Application>Microsoft Office PowerPoint</Application>
  <PresentationFormat>On-screen Show (16:9)</PresentationFormat>
  <Paragraphs>262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Big Data Diabetes</dc:title>
  <dc:subject>PptxGenJS Presentation</dc:subject>
  <dc:creator>PptxGenJS</dc:creator>
  <cp:lastModifiedBy>HP</cp:lastModifiedBy>
  <cp:revision>20</cp:revision>
  <dcterms:created xsi:type="dcterms:W3CDTF">2026-04-09T12:44:16Z</dcterms:created>
  <dcterms:modified xsi:type="dcterms:W3CDTF">2026-04-10T01:52:52Z</dcterms:modified>
</cp:coreProperties>
</file>